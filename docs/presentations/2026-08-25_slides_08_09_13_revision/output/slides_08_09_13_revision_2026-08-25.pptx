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132238"/>
                </a:solidFill>
                <a:latin typeface="Meiryo UI"/>
              </a:rPr>
              <a:t>2. 先行研究の紹介：Hidden Markov Modeling of Reasoning Dynamics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5272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D5BFF"/>
                </a:solidFill>
                <a:latin typeface="Inter"/>
              </a:rPr>
              <a:t>Anonymous authors（ICLR 2026 submission）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解析枠組み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29968"/>
            <a:ext cx="5989320" cy="3429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D5BFF"/>
                </a:solidFill>
                <a:latin typeface="Meiryo UI"/>
              </a:rPr>
              <a:t>explicit：semantic roleの遷移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9169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Setup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48256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04288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29169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0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47872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9169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Verify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5424" y="3026664"/>
            <a:ext cx="210312" cy="0"/>
          </a:xfrm>
          <a:prstGeom prst="line">
            <a:avLst/>
          </a:prstGeom>
          <a:ln w="1905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91456" y="2761488"/>
            <a:ext cx="9601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29169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32238"/>
                </a:solidFill>
                <a:latin typeface="Inter"/>
              </a:rPr>
              <a:t>Final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310128" y="3493008"/>
            <a:ext cx="402335" cy="0"/>
          </a:xfrm>
          <a:prstGeom prst="line">
            <a:avLst/>
          </a:prstGeom>
          <a:ln w="1651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99232" y="356616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D1495B"/>
                </a:solidFill>
                <a:latin typeface="Inter"/>
              </a:rPr>
              <a:t>verification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3308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008A88"/>
                </a:solidFill>
                <a:latin typeface="Meiryo UI"/>
              </a:rPr>
              <a:t>implicit：layer-depth regime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709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75688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23160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709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MID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83280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730752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4709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UPPER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90872" y="4809744"/>
            <a:ext cx="301752" cy="0"/>
          </a:xfrm>
          <a:prstGeom prst="line">
            <a:avLst/>
          </a:prstGeom>
          <a:ln w="17780">
            <a:solidFill>
              <a:srgbClr val="00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38344" y="4572000"/>
            <a:ext cx="932688" cy="47548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 w="10160">
            <a:solidFill>
              <a:srgbClr val="00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4709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008A88"/>
                </a:solidFill>
                <a:latin typeface="Inter"/>
              </a:rPr>
              <a:t>ANCHOR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16642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Meiryo UI"/>
              </a:rPr>
              <a:t>手法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2029968"/>
            <a:ext cx="429768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生成文のreasoning step分割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各step先頭tokenのlayer-wise hidden state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PCA 64次元＋階層Hidden Markov Model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2D5BFF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semantic roleとdepth regimeの同時記述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68312" y="3794760"/>
            <a:ext cx="4041648" cy="0"/>
          </a:xfrm>
          <a:prstGeom prst="line">
            <a:avLst/>
          </a:prstGeom>
          <a:ln w="889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068312" y="40416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08A88"/>
                </a:solidFill>
                <a:latin typeface="Meiryo UI"/>
              </a:rPr>
              <a:t>主要結果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407408"/>
            <a:ext cx="4297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推論早期のthink-first / commit-early分岐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失敗軌道のverification loop・不安定なdepth遷移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>
                <a:solidFill>
                  <a:srgbClr val="008A88"/>
                </a:solidFill>
                <a:latin typeface="Meiryo UI"/>
              </a:rPr>
              <a:t>●  </a:t>
            </a:r>
            <a:r>
              <a:rPr sz="1350">
                <a:solidFill>
                  <a:srgbClr val="132238"/>
                </a:solidFill>
                <a:latin typeface="Meiryo UI"/>
              </a:rPr>
              <a:t>成功軌道の安定したsemantic path・構造的anchor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Hidden Markov Modeling of Reasoning Dynamics in Large Language Models, OpenReview: fr9t7r43am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3. 仮説：hidden-state dynamicsによる推論崩壊の記述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353312"/>
            <a:ext cx="10469880" cy="1481328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664208"/>
            <a:ext cx="9802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32238"/>
                </a:solidFill>
                <a:latin typeface="Meiryo UI"/>
              </a:rPr>
              <a:t>LLMの推論崩壊は、最終誤答より前のhidden-state trajectoryにおける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176272"/>
            <a:ext cx="9802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D5BFF"/>
                </a:solidFill>
                <a:latin typeface="Meiryo UI"/>
              </a:rPr>
              <a:t>drift・滞留・final commit失敗として記述可能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84448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D5BFF"/>
                </a:solidFill>
                <a:latin typeface="Inter"/>
              </a:rPr>
              <a:t>Shojaee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制御された複雑度での崩壊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3584448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08A88"/>
                </a:solidFill>
                <a:latin typeface="Inter"/>
              </a:rPr>
              <a:t>Zhu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977639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誤り発生点の時間局在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3337560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3584448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E7822B"/>
                </a:solidFill>
                <a:latin typeface="Inter"/>
              </a:rPr>
              <a:t>HHMM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3977639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32238"/>
                </a:solidFill>
                <a:latin typeface="Meiryo UI"/>
              </a:rPr>
              <a:t>成功・失敗軌道の早期分岐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71616" y="4526280"/>
            <a:ext cx="0" cy="356616"/>
          </a:xfrm>
          <a:prstGeom prst="line">
            <a:avLst/>
          </a:prstGeom>
          <a:ln w="21590">
            <a:solidFill>
              <a:srgbClr val="2D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65960" y="4919472"/>
            <a:ext cx="8211312" cy="658368"/>
          </a:xfrm>
          <a:prstGeom prst="roundRect">
            <a:avLst>
              <a:gd name="adj" fmla="val 8000"/>
            </a:avLst>
          </a:prstGeom>
          <a:solidFill>
            <a:srgbClr val="EA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5111496"/>
            <a:ext cx="8211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008A88"/>
                </a:solidFill>
                <a:latin typeface="Meiryo UI"/>
              </a:rPr>
              <a:t>本発表の射程：挙動のモデリング　｜　制御モデル：将来課題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50" b="1">
                <a:solidFill>
                  <a:srgbClr val="132238"/>
                </a:solidFill>
                <a:latin typeface="Meiryo UI"/>
              </a:rPr>
              <a:t>4. 現状の共有：Nとmin_movesによる難易度分解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1047902"/>
            <a:ext cx="10908792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652881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637083"/>
                </a:solidFill>
                <a:latin typeface="Inter"/>
              </a:rPr>
              <a:t>LLM REASONING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637083"/>
                </a:solidFill>
                <a:latin typeface="Inter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07008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637083"/>
                </a:solidFill>
                <a:latin typeface="Inter"/>
              </a:rPr>
              <a:t>T=0.6 / DeepSeek-R1-Distill-Qwen-14B / 600 trials（各cell n=100）</a:t>
            </a:r>
          </a:p>
        </p:txBody>
      </p:sp>
      <p:pic>
        <p:nvPicPr>
          <p:cNvPr id="9" name="Picture 8" descr="pancake_accuracy_600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5760720" cy="4361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84848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2D5BFF"/>
                </a:solidFill>
                <a:latin typeface="Inter"/>
              </a:rPr>
              <a:t>min_moves=3固定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938528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50" b="1">
                <a:solidFill>
                  <a:srgbClr val="132238"/>
                </a:solidFill>
                <a:latin typeface="Inter"/>
              </a:rPr>
              <a:t>N=3 → 4 → 5：100% → 86% → 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359152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37083"/>
                </a:solidFill>
                <a:latin typeface="Meiryo UI"/>
              </a:rPr>
              <a:t>同一計画長でもN増加に伴うaccuracy低下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84848" y="2798064"/>
            <a:ext cx="4297680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4848" y="3090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008A88"/>
                </a:solidFill>
                <a:latin typeface="Inter"/>
              </a:rPr>
              <a:t>N=5固定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474720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50" b="1">
                <a:solidFill>
                  <a:srgbClr val="132238"/>
                </a:solidFill>
                <a:latin typeface="Inter"/>
              </a:rPr>
              <a:t>mm=3 → 4 → 5：76% → 38% →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89534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637083"/>
                </a:solidFill>
                <a:latin typeface="Meiryo UI"/>
              </a:rPr>
              <a:t>mm=4での半減とmm=4–5間の横ばい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4848" y="4334256"/>
            <a:ext cx="4297680" cy="0"/>
          </a:xfrm>
          <a:prstGeom prst="line">
            <a:avLst/>
          </a:prstGeom>
          <a:ln w="1016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84848" y="4645152"/>
            <a:ext cx="4297680" cy="96012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864608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2D5BFF"/>
                </a:solidFill>
                <a:latin typeface="Meiryo UI"/>
              </a:rPr>
              <a:t>層化によるN効果と計画長効果の分離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239512"/>
            <a:ext cx="37856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32238"/>
                </a:solidFill>
                <a:latin typeface="Meiryo UI"/>
              </a:rPr>
              <a:t>N=4ではmm4 &gt; mm3：単純な単調則ではない結果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208776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70" b="0">
                <a:solidFill>
                  <a:srgbClr val="637083"/>
                </a:solidFill>
                <a:latin typeface="Inter"/>
              </a:rPr>
              <a:t>Source: Google Drive full_hidden_distribution_v1 / labels_v1.json, retrieved 2026-08-25; aggregate: data/pancake_accuracy_600.csv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修正版スライド 08・09・13</dc:title>
  <dc:subject>元資料を変更しない独立差し替え用スライド</dc:subject>
  <dc:creator>LLM Reasoning Dynamics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