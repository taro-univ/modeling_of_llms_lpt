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65" r:id="rId11"/>
    <p:sldId id="266" r:id="rId12"/>
    <p:sldId id="267" r:id="rId13"/>
    <p:sldId id="272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1" autoAdjust="0"/>
  </p:normalViewPr>
  <p:slideViewPr>
    <p:cSldViewPr snapToGrid="0" snapToObjects="1">
      <p:cViewPr>
        <p:scale>
          <a:sx n="125" d="100"/>
          <a:sy n="125" d="100"/>
        </p:scale>
        <p:origin x="126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42CBE-55AE-4765-AF2A-F6EB12D0136F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C7F25-20C5-49F3-947A-2A2D70A5C9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11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LLM（Large Language Model）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通常の言語モデル。ここでは、長い思考過程を明示的に生成しないモデルとの比較対象。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LRM（Large Reasoning Model）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最終回答の前に長いChain-of-Thoughtを生成する推論特化モデル。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Thinking token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最終回答に至る前の推論過程で消費されるtoken。推論に使用された計算量の近似指標。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Inference-time compute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学習後のモデルが回答生成時に使用する計算量。本論文では主にthinking token数による評価。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問題複雑度 (N)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Hanoiの円盤数など、パズルを構成する要素数。論理規則を変えずに難易度を操作する変数。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Controllable puzzle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問題の規則を固定したまま、構成要素数だけを変えられるパズル環境。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- 3つの複雑度領域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低複雑度、中複雑度、高複雑度に分けたモデル性能の経験的分類。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Accuracy collapse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問題複雑度が一定値を超えた際に、正答率がほぼ0まで急落する現象。数学的に証明された相転移ではなく、実験上の観測。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推論量の反転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複雑度の増加に伴ってthinking token数が増加した後、正答率の崩壊付近で逆に減少する現象。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C7F25-20C5-49F3-947A-2A2D70A5C93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117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スライド7の図の縦軸・横軸・見方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横軸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Normalized Failure Onset Position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最初の誤りが出現した相対位置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推論trajectory全体に対して、最初の不妥当なsegmentがどこで現れたかを0～100%で表しています。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- 0%：推論の冒頭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- 30%：推論全体の前半30%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- 100%：推論の末尾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左側に点があるほど、早い段階で推論が誤った方向へ進んだことを意味します。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縦軸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Invalid Segments per Trajectory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1つのtrajectoryに含まれる不妥当segment数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- 1：誤りと判定されたsegmentが1個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- 2：誤りsegmentが2個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- 3以上：複数箇所に誤りが存在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これは誤ったtoken数ではなく、意味的に区切った推論segmentの数です。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点と色の意味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それぞれの点が1つの失敗trajectoryを表します。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横位置：最初の誤りが出現した時点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縦位置：trajectory全体に含まれる誤りsegment数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赤色の濃さ：trajectoryが集中している領域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縦の破線：推論全体の30%地点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左下が濃いため、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多くの失敗trajectoryでは、推論前半に最初の誤りが発生し、誤りsegment自体は少数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という結果になります。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上側のグラフ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横軸方向だけを集計したfailure onsetの分布です。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30%地点より前に大きな山があり、その後急速に減少しています。これは、failure onsetの85%以上が推論前半30%以内に集中しているという主張に対応します。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右側のグラフ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縦軸方向だけを集計した誤りsegment数の分布です。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最も多いのは誤りsegmentが1個のtrajectoryで、全体の43.5%を占めています。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図全体の読み方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この図から重要なのは、次の2点です。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最初の誤りは推論の早い段階に集中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失敗trajectoryでも、誤りsegmentは少数の場合が多い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つまり、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多数の誤りを繰り返して失敗するというより、推論前半の一度の誤った分岐を起点として、その後は局所的に整合したまま誤った結論へ進む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という解釈です。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発表時の短い説明なら、次の一文がおすすめです。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横軸は最初の誤りが現れた時点、縦軸はtrajectory内の誤りsegment数です。点が左下に集中しているため、多くの失敗は推論前半の少数の誤りから始まることが分かります。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Reasoning trajectory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モデルが最終回答へ至るまでに生成した、複数の推論stepからなる系列。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Reasoning segment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一つの推論trajectoryを、意味的にまとまった推論単位へ分割したもの。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Validity oracle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各segmentが妥当かを判定する評価器。ここでのoracleは「正誤を判定する基準」の意味。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Failure onset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推論trajectory内で最初に不妥当なsegmentが出現する位置。最終回答が誤りと判明する位置とは異なる概念。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Normalized failure onset position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 onsetの位置をtrajectory全体の長さで割った相対位置。0が生成冒頭、1が生成末尾。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「前半30%以内」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失敗trajectoryの85%以上で、最初の不妥当segmentが生成全体の前半30%以内に出現したという結果。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「誤りsegmentが1個」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43.5%の失敗trajectoryでは、不妥当と判定された推論segmentが1個のみという結果。誤ったtokenが1個だけという意味ではない。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Token-level entropy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次tokenの確率分布の不確実性。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(H_t=-\sum_v p_t(v)\log p_t(v)) による定義。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Entropy spike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特定の生成位置におけるentropyの局所的な急上昇。モデルが次の推論方向を決めかねている可能性を示す観測量。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Locally coherent but globally incorrect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初期の誤り以降も文章や局所的な論理は整合している一方、全体としては誤った結論へ向かう状態。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C7F25-20C5-49F3-947A-2A2D70A5C93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705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この論文は、LLMの推論を「いくつかの状態を移動する経路」として捉えています。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例えば、正しい推論は次のような経路です。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問題の整理 → 分析 → 検証 → 最終回答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一方、失敗する推論では、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分析 ↔ 検証を繰り返す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十分に考えず最終回答へ移る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といった経路が観測されます。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HHMMが見ているのは、次の2階層です。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Explicit：文章から見える推論の役割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Setup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Analysis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Verification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Final Answer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Implicit：モデル内部で使用されるlayerの深さやhidden stateのパターン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直感的には、カーナビの経路分析に近い考え方です。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Explicit：車が「直進・確認・右折」など、何をしているか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Implicit：車内ではどの制御モードが働いているか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HHMM：両方を合わせて、目的地へ向かう典型的な経路を推定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成功trajectoryでは、安定した順序で状態を移動します。一方、失敗trajectoryでは、比較的早い段階で別の経路へ分岐し、verification loopや不安定な内部状態遷移へ入ります。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発表時には、次の説明が使いやすいです。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LLMの推論を一続きの文章ではなく、「問題整理・分析・検証・回答」という状態間の移動として捉えた研究です。成功時には安定した経路を通りますが、失敗時には早い段階で別経路へ分岐し、検証のループや早すぎる回答への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移行が生じます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Reasoning step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生成文を意味的な処理単位へ分割したもの。論文では各step先頭tokenのhidden stateを解析。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Explicit reasoning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生成文として外部から観測できる推論過程。問題設定、分析、検証、最終回答などのsemantic roleによる表現。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Implicit reasoning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Transformer内部のhidden stateやlayer間の変化として観測される内部計算過程。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Semantic role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各reasoning stepが担う機能。例：Setup、Analysis、Verification、Final Answer。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Layer-wise hidden state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同じtokenについて、Transformerの各layerから取得される内部表現。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PCA 64次元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高次元hidden stateを、分散を多く保持する64個の主成分へ射影した表現。64 layerという意味ではない。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HMM（Hidden Markov Model）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直接観測できない離散状態と、その状態間の遷移確率を系列データから推定する確率モデル。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HHMM（Hierarchical Hidden Markov Model）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複数階層を持つHMM。本論文では、semantic roleの遷移とlayer-depth regimeを階層的に記述。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Latent depth regime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推論stepごとに、どの深さのlayerで特徴的な内部変化が生じるかを表す潜在状態。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Think-first path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分析や検証を順番に経てから最終回答へ進むsemantic trajectory。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Commit-early path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十分な分析や検証を経ず、早い段階で最終回答へ移行するtrajectory。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Verification loop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AnalysisとVerificationの間を反復し、最終的なclosureへ進めない状態。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Structural anchor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成功trajectoryを支える、一貫したlayer-depth上の内部構造パターン。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早期分岐</a:t>
            </a:r>
            <a:b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推論の比較的早い段階で、think-firstとcommit-earlyのsemantic pathが分かれること。hidden空間上の距離が生成直後から必ず拡大する、という意味とは区別が必要。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C7F25-20C5-49F3-947A-2A2D70A5C93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205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C7F25-20C5-49F3-947A-2A2D70A5C93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16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9" y="2325490"/>
            <a:ext cx="8200228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dirty="0" err="1">
                <a:solidFill>
                  <a:srgbClr val="132238"/>
                </a:solidFill>
                <a:latin typeface="Meiryo UI"/>
              </a:rPr>
              <a:t>大規模言語モデルの物理モデリング</a:t>
            </a:r>
            <a:endParaRPr sz="4400" b="1" dirty="0">
              <a:solidFill>
                <a:srgbClr val="132238"/>
              </a:solidFill>
              <a:latin typeface="Meiryo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9" y="3916957"/>
            <a:ext cx="7680960" cy="2702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>
                <a:solidFill>
                  <a:srgbClr val="132238"/>
                </a:solidFill>
                <a:latin typeface="Meiryo UI"/>
              </a:rPr>
              <a:t>早稲田大学大学院　先進理工学研究科　物理学及応用物理学専攻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3550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37083"/>
                </a:solidFill>
                <a:latin typeface="Inte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447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D5BF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1732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32238"/>
                </a:solidFill>
                <a:latin typeface="Meiryo UI"/>
              </a:rPr>
              <a:t>研究のモチベーション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25856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32238"/>
                </a:solidFill>
                <a:latin typeface="Meiryo UI"/>
              </a:rPr>
              <a:t>先行研究の紹介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99816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32238"/>
                </a:solidFill>
                <a:latin typeface="Meiryo UI"/>
              </a:rPr>
              <a:t>仮説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41063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32238"/>
                </a:solidFill>
                <a:latin typeface="Meiryo UI"/>
              </a:rPr>
              <a:t>現状の共有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782312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32238"/>
                </a:solidFill>
                <a:latin typeface="Meiryo UI"/>
              </a:rPr>
              <a:t>展望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A20454FE-C854-F96C-BF29-DCAB20F14ED1}"/>
              </a:ext>
            </a:extLst>
          </p:cNvPr>
          <p:cNvSpPr txBox="1"/>
          <p:nvPr/>
        </p:nvSpPr>
        <p:spPr>
          <a:xfrm>
            <a:off x="932688" y="2290572"/>
            <a:ext cx="64008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700" b="1" dirty="0">
                <a:solidFill>
                  <a:srgbClr val="2D5BFF"/>
                </a:solidFill>
                <a:latin typeface="Inter"/>
              </a:rPr>
              <a:t>02</a:t>
            </a:r>
            <a:endParaRPr sz="1700" b="1" dirty="0">
              <a:solidFill>
                <a:srgbClr val="2D5BFF"/>
              </a:solidFill>
              <a:latin typeface="Inter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59E9E6B7-4E32-35B4-509D-47C1B7FD5C14}"/>
              </a:ext>
            </a:extLst>
          </p:cNvPr>
          <p:cNvSpPr txBox="1"/>
          <p:nvPr/>
        </p:nvSpPr>
        <p:spPr>
          <a:xfrm>
            <a:off x="932688" y="3131820"/>
            <a:ext cx="64008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dirty="0">
                <a:solidFill>
                  <a:srgbClr val="2D5BFF"/>
                </a:solidFill>
                <a:latin typeface="Inter"/>
              </a:rPr>
              <a:t>0</a:t>
            </a:r>
            <a:r>
              <a:rPr lang="en-US" sz="1700" b="1" dirty="0">
                <a:solidFill>
                  <a:srgbClr val="2D5BFF"/>
                </a:solidFill>
                <a:latin typeface="Inter"/>
              </a:rPr>
              <a:t>3</a:t>
            </a:r>
            <a:endParaRPr sz="1700" b="1" dirty="0">
              <a:solidFill>
                <a:srgbClr val="2D5BFF"/>
              </a:solidFill>
              <a:latin typeface="Inter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54CD2B1E-A036-A4AD-1CD8-7F5EE5D93335}"/>
              </a:ext>
            </a:extLst>
          </p:cNvPr>
          <p:cNvSpPr txBox="1"/>
          <p:nvPr/>
        </p:nvSpPr>
        <p:spPr>
          <a:xfrm>
            <a:off x="932688" y="3973067"/>
            <a:ext cx="64008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dirty="0">
                <a:solidFill>
                  <a:srgbClr val="2D5BFF"/>
                </a:solidFill>
                <a:latin typeface="Inter"/>
              </a:rPr>
              <a:t>0</a:t>
            </a:r>
            <a:r>
              <a:rPr lang="en-US" sz="1700" b="1" dirty="0">
                <a:solidFill>
                  <a:srgbClr val="2D5BFF"/>
                </a:solidFill>
                <a:latin typeface="Inter"/>
              </a:rPr>
              <a:t>4</a:t>
            </a:r>
            <a:endParaRPr sz="1700" b="1" dirty="0">
              <a:solidFill>
                <a:srgbClr val="2D5BFF"/>
              </a:solidFill>
              <a:latin typeface="Inter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D0998ED9-BD8D-9E95-6D69-57A1453EB588}"/>
              </a:ext>
            </a:extLst>
          </p:cNvPr>
          <p:cNvSpPr txBox="1"/>
          <p:nvPr/>
        </p:nvSpPr>
        <p:spPr>
          <a:xfrm>
            <a:off x="932688" y="4782312"/>
            <a:ext cx="64008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dirty="0">
                <a:solidFill>
                  <a:srgbClr val="2D5BFF"/>
                </a:solidFill>
                <a:latin typeface="Inter"/>
              </a:rPr>
              <a:t>0</a:t>
            </a:r>
            <a:r>
              <a:rPr lang="en-US" sz="1700" b="1" dirty="0">
                <a:solidFill>
                  <a:srgbClr val="2D5BFF"/>
                </a:solidFill>
                <a:latin typeface="Inter"/>
              </a:rPr>
              <a:t>5</a:t>
            </a:r>
            <a:endParaRPr sz="1700" b="1" dirty="0">
              <a:solidFill>
                <a:srgbClr val="2D5BF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1. 研究のモチベーション：複雑度に伴う推論崩壊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03</a:t>
            </a:r>
          </a:p>
        </p:txBody>
      </p:sp>
      <p:pic>
        <p:nvPicPr>
          <p:cNvPr id="8" name="Picture 7" descr="shojaee_2025_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26192"/>
            <a:ext cx="6416121" cy="3085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6553" y="322993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観測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6552" y="3650557"/>
            <a:ext cx="3534029" cy="1032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450" dirty="0" err="1">
                <a:solidFill>
                  <a:srgbClr val="132238"/>
                </a:solidFill>
                <a:latin typeface="Meiryo UI"/>
              </a:rPr>
              <a:t>複雑度増加に伴う正答率の急落</a:t>
            </a:r>
            <a:endParaRPr sz="1450" dirty="0">
              <a:solidFill>
                <a:srgbClr val="132238"/>
              </a:solidFill>
              <a:latin typeface="Meiryo UI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lang="ja-JP" altLang="en-US" sz="1450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正答率が非線形に急落</a:t>
            </a:r>
            <a:endParaRPr lang="en-US" altLang="ja-JP" sz="1450" dirty="0">
              <a:solidFill>
                <a:srgbClr val="13223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lang="ja-JP" altLang="en-US" sz="1050" dirty="0">
                <a:solidFill>
                  <a:srgbClr val="2D5B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●  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token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数は難易度と線形な関係ではない</a:t>
            </a:r>
            <a:endParaRPr sz="1450" dirty="0">
              <a:solidFill>
                <a:srgbClr val="13223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" y="5261398"/>
            <a:ext cx="7853357" cy="457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難易度が上がれば</a:t>
            </a:r>
            <a:r>
              <a:rPr lang="en-US" altLang="ja-JP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token(</a:t>
            </a: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すなわち思考量</a:t>
            </a:r>
            <a:r>
              <a:rPr lang="en-US" altLang="ja-JP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は増加する</a:t>
            </a:r>
            <a:endParaRPr lang="en-US" altLang="ja-JP" sz="1450" b="1" dirty="0">
              <a:solidFill>
                <a:srgbClr val="13223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という直感に反した結果になる。ある程度の難易度を超えると、思考を</a:t>
            </a:r>
            <a:r>
              <a:rPr lang="en-US" altLang="ja-JP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放棄</a:t>
            </a:r>
            <a:r>
              <a:rPr lang="en-US" altLang="ja-JP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した誤答が観測される</a:t>
            </a:r>
            <a:endParaRPr sz="1450" b="1" dirty="0">
              <a:solidFill>
                <a:srgbClr val="13223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297914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Shojaee et al. (2025), The Illusion of Thinking, Fig. 6, arXiv:2506.06941v3, CC BY 4.0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0543953-A3D2-37AC-1E43-5E67637069B6}"/>
              </a:ext>
            </a:extLst>
          </p:cNvPr>
          <p:cNvSpPr txBox="1"/>
          <p:nvPr/>
        </p:nvSpPr>
        <p:spPr>
          <a:xfrm>
            <a:off x="7586553" y="1836766"/>
            <a:ext cx="2962564" cy="8781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横軸 　　　 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: 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問題複雑度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縦軸 上段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 : LLM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の正答率</a:t>
            </a:r>
            <a:b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 下段 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: 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消費した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token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endParaRPr lang="en-US" alt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1. 研究のモチベーション：推論量の反転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04</a:t>
            </a:r>
          </a:p>
        </p:txBody>
      </p:sp>
      <p:pic>
        <p:nvPicPr>
          <p:cNvPr id="8" name="Picture 7" descr="shojaee_2025_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29023"/>
            <a:ext cx="7909560" cy="3773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1392" y="37255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dirty="0" err="1">
                <a:solidFill>
                  <a:srgbClr val="2D5BFF"/>
                </a:solidFill>
                <a:latin typeface="Meiryo UI"/>
              </a:rPr>
              <a:t>同一複雑度内の差</a:t>
            </a:r>
            <a:endParaRPr sz="1500" b="1" dirty="0">
              <a:solidFill>
                <a:srgbClr val="2D5BFF"/>
              </a:solidFill>
              <a:latin typeface="Meiryo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1392" y="4146204"/>
            <a:ext cx="2888026" cy="1032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450" dirty="0" err="1">
                <a:solidFill>
                  <a:srgbClr val="132238"/>
                </a:solidFill>
                <a:latin typeface="Meiryo UI"/>
              </a:rPr>
              <a:t>正解時の思考位置の後半化</a:t>
            </a:r>
            <a:endParaRPr sz="1450" dirty="0">
              <a:solidFill>
                <a:srgbClr val="132238"/>
              </a:solidFill>
              <a:latin typeface="Meiryo UI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450" dirty="0" err="1">
                <a:solidFill>
                  <a:srgbClr val="132238"/>
                </a:solidFill>
                <a:latin typeface="Meiryo UI"/>
              </a:rPr>
              <a:t>不正解時の思考位置の前半固定</a:t>
            </a:r>
            <a:endParaRPr sz="1450" dirty="0">
              <a:solidFill>
                <a:srgbClr val="132238"/>
              </a:solidFill>
              <a:latin typeface="Meiryo UI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450" dirty="0" err="1">
                <a:solidFill>
                  <a:srgbClr val="132238"/>
                </a:solidFill>
                <a:latin typeface="Meiryo UI"/>
              </a:rPr>
              <a:t>高複雑度での計算努力の減少</a:t>
            </a:r>
            <a:endParaRPr sz="1450" dirty="0">
              <a:solidFill>
                <a:srgbClr val="132238"/>
              </a:solidFill>
              <a:latin typeface="Meiryo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Shojaee et al. (2025), Fig. 7: normalized position in thinking by puzzle complexity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F87685C-AD65-C5DB-CBBA-4E2308C0CB46}"/>
              </a:ext>
            </a:extLst>
          </p:cNvPr>
          <p:cNvSpPr txBox="1"/>
          <p:nvPr/>
        </p:nvSpPr>
        <p:spPr>
          <a:xfrm>
            <a:off x="8851392" y="1868717"/>
            <a:ext cx="2962564" cy="1128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横軸 　　　 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: 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問題複雑度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縦軸        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: LLM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token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の消費量</a:t>
            </a:r>
            <a:b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- 0  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推論の冒頭</a:t>
            </a:r>
            <a:b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- 1 </a:t>
            </a:r>
            <a:r>
              <a:rPr lang="ja-JP" altLang="en-US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 推論の末尾</a:t>
            </a:r>
            <a:r>
              <a:rPr lang="en-US" altLang="ja-JP" sz="145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1. 研究のモチベーション：出力から内部状態へ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7919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dirty="0" err="1">
                <a:solidFill>
                  <a:srgbClr val="2D5BFF"/>
                </a:solidFill>
                <a:latin typeface="Meiryo UI"/>
              </a:rPr>
              <a:t>既存の観測</a:t>
            </a:r>
            <a:endParaRPr sz="1700" b="1" dirty="0">
              <a:solidFill>
                <a:srgbClr val="2D5BFF"/>
              </a:solidFill>
              <a:latin typeface="Meiryo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678839"/>
            <a:ext cx="4206240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188288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dirty="0">
                <a:solidFill>
                  <a:srgbClr val="132238"/>
                </a:solidFill>
                <a:latin typeface="Inter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458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32238"/>
                </a:solidFill>
                <a:latin typeface="Inter"/>
              </a:rPr>
              <a:t>thinking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350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32238"/>
                </a:solidFill>
                <a:latin typeface="Inter"/>
              </a:rPr>
              <a:t>text trajectory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12847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8A88"/>
                </a:solidFill>
                <a:latin typeface="Meiryo UI"/>
              </a:rPr>
              <a:t>本研究の観測対象</a:t>
            </a:r>
            <a:endParaRPr sz="1700" b="1" dirty="0">
              <a:solidFill>
                <a:srgbClr val="008A88"/>
              </a:solidFill>
              <a:latin typeface="Meiryo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47688" y="1678839"/>
            <a:ext cx="4572000" cy="1867924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13448" y="1793905"/>
            <a:ext cx="3840480" cy="1445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en-US" sz="2200" b="1" dirty="0">
                <a:latin typeface="Inter"/>
              </a:rPr>
              <a:t>accuracy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en-US" sz="2200" b="1" dirty="0">
                <a:latin typeface="Inter"/>
              </a:rPr>
              <a:t>fail type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en-US" sz="2200" b="1" dirty="0">
                <a:latin typeface="Inter"/>
              </a:rPr>
              <a:t>hidden trajectory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en-US" sz="2200" b="1" dirty="0">
                <a:latin typeface="Inter"/>
              </a:rPr>
              <a:t>generated prompt</a:t>
            </a:r>
            <a:endParaRPr sz="2200" b="1" dirty="0">
              <a:latin typeface="Inte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8680" y="4919472"/>
            <a:ext cx="10351008" cy="749808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129784"/>
            <a:ext cx="103510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2D5BFF"/>
                </a:solidFill>
                <a:latin typeface="Meiryo UI"/>
              </a:rPr>
              <a:t>出力上の推論崩壊を、内部状態の時間発展として記述する研究</a:t>
            </a:r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D9EE91D0-EA83-F9C3-4867-5DD21BDCC05F}"/>
              </a:ext>
            </a:extLst>
          </p:cNvPr>
          <p:cNvSpPr/>
          <p:nvPr/>
        </p:nvSpPr>
        <p:spPr>
          <a:xfrm>
            <a:off x="6647688" y="3801356"/>
            <a:ext cx="4572000" cy="942356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04F7B61C-98C7-1A75-C08D-FB8F35FED556}"/>
              </a:ext>
            </a:extLst>
          </p:cNvPr>
          <p:cNvSpPr txBox="1"/>
          <p:nvPr/>
        </p:nvSpPr>
        <p:spPr>
          <a:xfrm>
            <a:off x="7013448" y="3950330"/>
            <a:ext cx="3840480" cy="64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ja-JP" altLang="en-US" sz="2000" b="1" dirty="0">
                <a:latin typeface="Inter"/>
              </a:rPr>
              <a:t>統計物理に基づく粗視化</a:t>
            </a:r>
            <a:endParaRPr lang="en-US" altLang="ja-JP" sz="2000" b="1" dirty="0">
              <a:latin typeface="Inter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ja-JP" altLang="en-US" sz="2000" b="1" dirty="0">
                <a:latin typeface="Inter"/>
              </a:rPr>
              <a:t>確率過程に基づく状態遷移</a:t>
            </a:r>
            <a:endParaRPr sz="2000" b="1" dirty="0"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2. 先行研究の紹介：The Illusion of Thinking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06</a:t>
            </a:r>
          </a:p>
        </p:txBody>
      </p:sp>
      <p:pic>
        <p:nvPicPr>
          <p:cNvPr id="8" name="Picture 7" descr="shojaee_2025_figur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45266"/>
            <a:ext cx="6172200" cy="2968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42646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Inter"/>
              </a:rPr>
              <a:t>Shojaee et al.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0195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D5BFF"/>
                </a:solidFill>
                <a:latin typeface="Inter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892808"/>
            <a:ext cx="2971800" cy="217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 dirty="0">
                <a:solidFill>
                  <a:srgbClr val="132238"/>
                </a:solidFill>
                <a:latin typeface="Meiryo UI"/>
              </a:rPr>
              <a:t>Hanoiほか4種の制御可能なパズル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2295144"/>
            <a:ext cx="416052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0" y="245059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D5BFF"/>
                </a:solidFill>
                <a:latin typeface="Inter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32887"/>
            <a:ext cx="26974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LRMと標準LLMの比較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2843784"/>
            <a:ext cx="416052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0" y="299923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D5BFF"/>
                </a:solidFill>
                <a:latin typeface="Inter"/>
              </a:rPr>
              <a:t>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64156"/>
            <a:ext cx="3153295" cy="217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 dirty="0">
                <a:solidFill>
                  <a:srgbClr val="132238"/>
                </a:solidFill>
                <a:latin typeface="Meiryo UI"/>
              </a:rPr>
              <a:t>各条件25試行・最大64k tokens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3392424"/>
            <a:ext cx="416052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008A88"/>
                </a:solidFill>
                <a:latin typeface="Meiryo UI"/>
              </a:rPr>
              <a:t>主要結果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069080"/>
            <a:ext cx="416052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>
                <a:solidFill>
                  <a:srgbClr val="008A88"/>
                </a:solidFill>
                <a:latin typeface="Meiryo UI"/>
              </a:rPr>
              <a:t>●  </a:t>
            </a:r>
            <a:r>
              <a:rPr sz="1400">
                <a:solidFill>
                  <a:srgbClr val="132238"/>
                </a:solidFill>
                <a:latin typeface="Meiryo UI"/>
              </a:rPr>
              <a:t>低・中・高複雑度の3領域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>
                <a:solidFill>
                  <a:srgbClr val="008A88"/>
                </a:solidFill>
                <a:latin typeface="Meiryo UI"/>
              </a:rPr>
              <a:t>●  </a:t>
            </a:r>
            <a:r>
              <a:rPr sz="1400">
                <a:solidFill>
                  <a:srgbClr val="132238"/>
                </a:solidFill>
                <a:latin typeface="Meiryo UI"/>
              </a:rPr>
              <a:t>高複雑度での正答率の崩壊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>
                <a:solidFill>
                  <a:srgbClr val="008A88"/>
                </a:solidFill>
                <a:latin typeface="Meiryo UI"/>
              </a:rPr>
              <a:t>●  </a:t>
            </a:r>
            <a:r>
              <a:rPr sz="1400">
                <a:solidFill>
                  <a:srgbClr val="132238"/>
                </a:solidFill>
                <a:latin typeface="Meiryo UI"/>
              </a:rPr>
              <a:t>崩壊と同時に生じるthinking token減少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Shojaee et al. (2025), arXiv:2506.06941v3; experimental setup and Fig.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2. 先行研究の紹介：Dissecting Failure Dynamics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07</a:t>
            </a:r>
          </a:p>
        </p:txBody>
      </p:sp>
      <p:pic>
        <p:nvPicPr>
          <p:cNvPr id="8" name="Picture 7" descr="zhu_2026_fig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1325880"/>
            <a:ext cx="4041648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0" y="1417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Inter"/>
              </a:rPr>
              <a:t>Zhu et al. (ACL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874519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D5BFF"/>
                </a:solidFill>
                <a:latin typeface="Inter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65376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DeepSeek-R1-Distill-Qwen-1.5B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2267712"/>
            <a:ext cx="534924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0" y="239572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dirty="0">
                <a:solidFill>
                  <a:srgbClr val="2D5BFF"/>
                </a:solidFill>
                <a:latin typeface="Inter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442187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AMC / AIMEの推論trajectory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2788920"/>
            <a:ext cx="534924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0" y="2916936"/>
            <a:ext cx="141732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altLang="ja-JP" sz="1150" b="1" dirty="0">
                <a:solidFill>
                  <a:srgbClr val="2D5BFF"/>
                </a:solidFill>
                <a:latin typeface="Inter"/>
              </a:rPr>
              <a:t>Target</a:t>
            </a:r>
            <a:endParaRPr sz="1150" b="1" dirty="0">
              <a:solidFill>
                <a:srgbClr val="2D5BFF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78040" y="2963394"/>
            <a:ext cx="3886200" cy="217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推論が間違った際</a:t>
            </a:r>
            <a:r>
              <a:rPr lang="en-US" altLang="ja-JP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 </a:t>
            </a:r>
            <a:r>
              <a:rPr lang="ja-JP" altLang="en-US" sz="145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どこから間違えているか</a:t>
            </a:r>
            <a:endParaRPr sz="1450" b="1" dirty="0">
              <a:solidFill>
                <a:srgbClr val="13223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715000" y="3310128"/>
            <a:ext cx="534924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15000" y="35844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008A88"/>
                </a:solidFill>
                <a:latin typeface="Meiryo UI"/>
              </a:rPr>
              <a:t>主要結果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968496"/>
            <a:ext cx="6187440" cy="878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dirty="0">
                <a:solidFill>
                  <a:srgbClr val="008A88"/>
                </a:solidFill>
                <a:latin typeface="Meiryo UI"/>
              </a:rPr>
              <a:t>●  </a:t>
            </a:r>
            <a:r>
              <a:rPr sz="1400" dirty="0">
                <a:solidFill>
                  <a:srgbClr val="132238"/>
                </a:solidFill>
                <a:latin typeface="Meiryo UI"/>
              </a:rPr>
              <a:t>failure onset</a:t>
            </a:r>
            <a:r>
              <a:rPr lang="ja-JP" altLang="en-US" sz="1400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lang="ja-JP" altLang="en-US" sz="140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呼ばれる、推論が間違う兆候</a:t>
            </a:r>
            <a:r>
              <a:rPr sz="1400" dirty="0">
                <a:solidFill>
                  <a:srgbClr val="132238"/>
                </a:solidFill>
                <a:latin typeface="Meiryo UI"/>
              </a:rPr>
              <a:t>の85%以上が生成前半30%以内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dirty="0">
                <a:solidFill>
                  <a:srgbClr val="008A88"/>
                </a:solidFill>
                <a:latin typeface="Meiryo UI"/>
              </a:rPr>
              <a:t>●  </a:t>
            </a:r>
            <a:r>
              <a:rPr lang="ja-JP" altLang="en-US" sz="1400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兆候観測</a:t>
            </a:r>
            <a:r>
              <a:rPr sz="1400" dirty="0" err="1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後</a:t>
            </a:r>
            <a:r>
              <a:rPr sz="1400" dirty="0" err="1">
                <a:solidFill>
                  <a:srgbClr val="132238"/>
                </a:solidFill>
                <a:latin typeface="Meiryo UI"/>
              </a:rPr>
              <a:t>の</a:t>
            </a:r>
            <a:r>
              <a:rPr sz="1400" b="1" dirty="0" err="1">
                <a:solidFill>
                  <a:srgbClr val="132238"/>
                </a:solidFill>
                <a:latin typeface="Meiryo UI"/>
              </a:rPr>
              <a:t>整合的だが誤った推論</a:t>
            </a:r>
            <a:endParaRPr lang="en-US" sz="1400" b="1" dirty="0">
              <a:solidFill>
                <a:srgbClr val="132238"/>
              </a:solidFill>
              <a:latin typeface="Meiryo UI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A8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●  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一度間違った軌道に入ると、修正は難しい</a:t>
            </a:r>
            <a:endParaRPr sz="1400" b="1" dirty="0">
              <a:solidFill>
                <a:srgbClr val="132238"/>
              </a:solidFill>
              <a:latin typeface="Meiryo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Zhu et al. (2026), Dissecting Failure Dynamics in LLM Reasoning, Fig. 2, ACL Anthology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132238"/>
                </a:solidFill>
                <a:latin typeface="Meiryo UI"/>
              </a:rPr>
              <a:t>2. 先行研究の紹介：Hidden Markov Modeling of Reasoning Dynamics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5272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2D5BFF"/>
                </a:solidFill>
                <a:latin typeface="Inter"/>
              </a:rPr>
              <a:t>Anonymous authors（ICLR 2026 submission）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解析枠組み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29968"/>
            <a:ext cx="5989320" cy="3429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D5BFF"/>
                </a:solidFill>
                <a:latin typeface="Meiryo UI"/>
              </a:rPr>
              <a:t>explicit：semantic roleの遷移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29169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Setup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48256" y="3026664"/>
            <a:ext cx="210312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04288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4288" y="29169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0" y="3026664"/>
            <a:ext cx="210312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47872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9169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Verify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5424" y="3026664"/>
            <a:ext cx="210312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91456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91456" y="29169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Final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310128" y="3493008"/>
            <a:ext cx="402335" cy="0"/>
          </a:xfrm>
          <a:prstGeom prst="line">
            <a:avLst/>
          </a:prstGeom>
          <a:ln w="1651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99232" y="356616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D1495B"/>
                </a:solidFill>
                <a:latin typeface="Inter"/>
              </a:rPr>
              <a:t>verification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13308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008A88"/>
                </a:solidFill>
                <a:latin typeface="Meiryo UI"/>
              </a:rPr>
              <a:t>implicit：layer-depth regime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4709160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75688" y="4809744"/>
            <a:ext cx="301752" cy="0"/>
          </a:xfrm>
          <a:prstGeom prst="line">
            <a:avLst/>
          </a:prstGeom>
          <a:ln w="17780">
            <a:solidFill>
              <a:srgbClr val="00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23160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23160" y="4709160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MID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83280" y="4809744"/>
            <a:ext cx="301752" cy="0"/>
          </a:xfrm>
          <a:prstGeom prst="line">
            <a:avLst/>
          </a:prstGeom>
          <a:ln w="17780">
            <a:solidFill>
              <a:srgbClr val="00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730752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30752" y="4709160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UPPER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90872" y="4809744"/>
            <a:ext cx="301752" cy="0"/>
          </a:xfrm>
          <a:prstGeom prst="line">
            <a:avLst/>
          </a:prstGeom>
          <a:ln w="17780">
            <a:solidFill>
              <a:srgbClr val="00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38344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38344" y="4709160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ANCHOR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16642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手法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2029968"/>
            <a:ext cx="4297680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生成文のreasoning step分割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各step先頭tokenのlayer-wise hidden state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PCA 64次元＋階層Hidden Markov Model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semantic roleとdepth regimeの同時記述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68312" y="3794760"/>
            <a:ext cx="4041648" cy="0"/>
          </a:xfrm>
          <a:prstGeom prst="line">
            <a:avLst/>
          </a:prstGeom>
          <a:ln w="889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68312" y="40416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08A88"/>
                </a:solidFill>
                <a:latin typeface="Meiryo UI"/>
              </a:rPr>
              <a:t>主要結果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4407408"/>
            <a:ext cx="42976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008A88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推論早期のthink-first / commit-early分岐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008A88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失敗軌道のverification loop・不安定なdepth遷移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008A88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成功軌道の安定したsemantic path・構造的anchor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Hidden Markov Modeling of Reasoning Dynamics in Large Language Models, OpenReview: fr9t7r43am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3. 仮説：hidden-state dynamicsによる推論崩壊の記述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353312"/>
            <a:ext cx="10469880" cy="1481328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664208"/>
            <a:ext cx="9802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32238"/>
                </a:solidFill>
                <a:latin typeface="Meiryo UI"/>
              </a:rPr>
              <a:t>LLMの推論崩壊は、最終誤答より前のhidden-state trajectoryにおける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176272"/>
            <a:ext cx="9802368" cy="345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ja-JP" altLang="en-US" sz="2300" b="1" dirty="0">
                <a:solidFill>
                  <a:srgbClr val="2D5BFF"/>
                </a:solidFill>
                <a:latin typeface="Meiryo UI"/>
              </a:rPr>
              <a:t>隠れ状態ベクトル分布の分岐・滞留を伴う確率過程として記述可能</a:t>
            </a:r>
            <a:endParaRPr sz="2300" b="1" dirty="0">
              <a:solidFill>
                <a:srgbClr val="2D5BFF"/>
              </a:solidFill>
              <a:latin typeface="Meiryo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8" y="3337560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58444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Inter"/>
              </a:rPr>
              <a:t>Shojaee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32238"/>
                </a:solidFill>
                <a:latin typeface="Meiryo UI"/>
              </a:rPr>
              <a:t>制御された複雑度での崩壊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3337560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34256" y="358444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08A88"/>
                </a:solidFill>
                <a:latin typeface="Inter"/>
              </a:rPr>
              <a:t>Zhu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977639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32238"/>
                </a:solidFill>
                <a:latin typeface="Meiryo UI"/>
              </a:rPr>
              <a:t>誤り発生点の時間局在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3337560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27264" y="358444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E7822B"/>
                </a:solidFill>
                <a:latin typeface="Inter"/>
              </a:rPr>
              <a:t>HHMM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3977639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32238"/>
                </a:solidFill>
                <a:latin typeface="Meiryo UI"/>
              </a:rPr>
              <a:t>成功・失敗軌道の早期分岐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71616" y="4526280"/>
            <a:ext cx="0" cy="356616"/>
          </a:xfrm>
          <a:prstGeom prst="line">
            <a:avLst/>
          </a:prstGeom>
          <a:ln w="2159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65960" y="4919472"/>
            <a:ext cx="8211312" cy="65836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65960" y="5111496"/>
            <a:ext cx="8211312" cy="254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ja-JP" altLang="en-US" sz="1700" b="1" dirty="0">
                <a:solidFill>
                  <a:srgbClr val="008A88"/>
                </a:solidFill>
                <a:latin typeface="Meiryo UI"/>
              </a:rPr>
              <a:t>軌道の分岐・時間発展として記述される</a:t>
            </a:r>
            <a:r>
              <a:rPr lang="en-US" altLang="ja-JP" sz="1700" b="1" dirty="0">
                <a:solidFill>
                  <a:srgbClr val="008A88"/>
                </a:solidFill>
                <a:latin typeface="Meiryo UI"/>
              </a:rPr>
              <a:t>hidden-state dynamics</a:t>
            </a:r>
            <a:endParaRPr sz="1700" b="1" dirty="0">
              <a:solidFill>
                <a:srgbClr val="008A88"/>
              </a:solidFill>
              <a:latin typeface="Meiryo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4. 現状の共有：Hanoi実験の設計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389888"/>
            <a:ext cx="9006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32238"/>
                </a:solidFill>
                <a:latin typeface="Meiryo UI"/>
              </a:rPr>
              <a:t>Apple報告の推論崩壊をローカルopen modelで再現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1901952"/>
            <a:ext cx="10195560" cy="0"/>
          </a:xfrm>
          <a:prstGeom prst="line">
            <a:avLst/>
          </a:prstGeom>
          <a:ln w="889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267712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2D5BFF"/>
                </a:solidFill>
                <a:latin typeface="Meiryo UI"/>
              </a:rPr>
              <a:t>問題複雑度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88336"/>
            <a:ext cx="3127248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53512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132238"/>
                </a:solidFill>
                <a:latin typeface="Inter"/>
              </a:rPr>
              <a:t>N = 2–6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02152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637083"/>
                </a:solidFill>
                <a:latin typeface="Inter"/>
              </a:rPr>
              <a:t>最短手数 2ᴺ−1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267712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008A88"/>
                </a:solidFill>
                <a:latin typeface="Meiryo UI"/>
              </a:rPr>
              <a:t>生成条件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688336"/>
            <a:ext cx="3127248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0832" y="2953512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132238"/>
                </a:solidFill>
                <a:latin typeface="Inter"/>
              </a:rPr>
              <a:t>T = 0.1–3.0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502152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637083"/>
                </a:solidFill>
                <a:latin typeface="Inter"/>
              </a:rPr>
              <a:t>25–30 trials /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3" y="2267712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E7822B"/>
                </a:solidFill>
                <a:latin typeface="Meiryo UI"/>
              </a:rPr>
              <a:t>観測量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72983" y="2688336"/>
            <a:ext cx="3127248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72983" y="2953512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132238"/>
                </a:solidFill>
                <a:latin typeface="Inter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3" y="3502152"/>
            <a:ext cx="3127248" cy="214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 dirty="0">
                <a:solidFill>
                  <a:srgbClr val="637083"/>
                </a:solidFill>
                <a:latin typeface="Inter"/>
              </a:rPr>
              <a:t>move loop / no move</a:t>
            </a:r>
            <a:r>
              <a:rPr lang="en-US" sz="1350" b="1" dirty="0">
                <a:solidFill>
                  <a:srgbClr val="637083"/>
                </a:solidFill>
                <a:latin typeface="Inter"/>
              </a:rPr>
              <a:t>(fail type)</a:t>
            </a:r>
            <a:endParaRPr sz="1350" b="1" dirty="0">
              <a:solidFill>
                <a:srgbClr val="637083"/>
              </a:solidFill>
              <a:latin typeface="Inte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4498848"/>
            <a:ext cx="10131552" cy="100584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D5BFF"/>
                </a:solidFill>
                <a:latin typeface="Meiryo UI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718304"/>
            <a:ext cx="81838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32238"/>
                </a:solidFill>
                <a:latin typeface="Meiryo UI"/>
              </a:rPr>
              <a:t>N–T平面上の正答率と支配的な失敗モード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129784"/>
            <a:ext cx="8183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637083"/>
                </a:solidFill>
                <a:latin typeface="Meiryo UI"/>
              </a:rPr>
              <a:t>対象：DeepSeek-R1-Distill-Qwen-14Bほか計5モデル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4. 現状の共有：HanoiのN–T相図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11</a:t>
            </a:r>
          </a:p>
        </p:txBody>
      </p:sp>
      <p:pic>
        <p:nvPicPr>
          <p:cNvPr id="8" name="Picture 7" descr="hanoi_deepseek_14b_accuracy.png"/>
          <p:cNvPicPr>
            <a:picLocks noChangeAspect="1"/>
          </p:cNvPicPr>
          <p:nvPr/>
        </p:nvPicPr>
        <p:blipFill>
          <a:blip r:embed="rId3"/>
          <a:srcRect r="2410" b="2130"/>
          <a:stretch>
            <a:fillRect/>
          </a:stretch>
        </p:blipFill>
        <p:spPr>
          <a:xfrm>
            <a:off x="640081" y="1723010"/>
            <a:ext cx="7986684" cy="37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79408" y="144475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D5BFF"/>
                </a:solidFill>
                <a:latin typeface="Inter"/>
              </a:rPr>
              <a:t>DeepSeek-R1-Distill-Qwen-14B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2084831"/>
            <a:ext cx="3304032" cy="129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350" dirty="0">
                <a:solidFill>
                  <a:srgbClr val="132238"/>
                </a:solidFill>
                <a:latin typeface="Meiryo UI"/>
              </a:rPr>
              <a:t>N=2：T≤0.9で正答率100%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350" dirty="0">
                <a:solidFill>
                  <a:srgbClr val="132238"/>
                </a:solidFill>
                <a:latin typeface="Meiryo UI"/>
              </a:rPr>
              <a:t>N=</a:t>
            </a:r>
            <a:r>
              <a:rPr lang="en-US" sz="1350" dirty="0">
                <a:solidFill>
                  <a:srgbClr val="132238"/>
                </a:solidFill>
                <a:latin typeface="Meiryo UI"/>
              </a:rPr>
              <a:t>3: </a:t>
            </a:r>
            <a:r>
              <a:rPr sz="1350" dirty="0">
                <a:solidFill>
                  <a:srgbClr val="132238"/>
                </a:solidFill>
                <a:latin typeface="Meiryo UI"/>
              </a:rPr>
              <a:t>T=1.5で0%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350" dirty="0">
                <a:solidFill>
                  <a:srgbClr val="132238"/>
                </a:solidFill>
                <a:latin typeface="Meiryo UI"/>
              </a:rPr>
              <a:t>N=4：低温域20–36%、T=1.5以降0%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 dirty="0">
                <a:solidFill>
                  <a:srgbClr val="2D5BFF"/>
                </a:solidFill>
                <a:latin typeface="Meiryo UI"/>
              </a:rPr>
              <a:t>●  </a:t>
            </a:r>
            <a:r>
              <a:rPr sz="1350" dirty="0">
                <a:solidFill>
                  <a:srgbClr val="132238"/>
                </a:solidFill>
                <a:latin typeface="Meiryo UI"/>
              </a:rPr>
              <a:t>N≥5：全観測温度で0%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4828032"/>
            <a:ext cx="2468880" cy="850392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5712" y="5029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dirty="0" err="1">
                <a:solidFill>
                  <a:srgbClr val="2D5BFF"/>
                </a:solidFill>
                <a:latin typeface="Meiryo UI"/>
              </a:rPr>
              <a:t>N増加とT増加による</a:t>
            </a:r>
            <a:endParaRPr sz="1450" b="1" dirty="0">
              <a:solidFill>
                <a:srgbClr val="2D5BFF"/>
              </a:solidFill>
              <a:latin typeface="Meiryo UI"/>
            </a:endParaRP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dirty="0" err="1">
                <a:solidFill>
                  <a:srgbClr val="2D5BFF"/>
                </a:solidFill>
                <a:latin typeface="Meiryo UI"/>
              </a:rPr>
              <a:t>単純な崩壊系列</a:t>
            </a:r>
            <a:endParaRPr sz="1450" b="1" dirty="0">
              <a:solidFill>
                <a:srgbClr val="2D5BFF"/>
              </a:solidFill>
              <a:latin typeface="Meiryo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Repository figure: figures/hanoi_nt_collapse/hanoi_nt_collapse_deepseek-r1-distill-qwen-14b.{png,csv}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4. 現状の共有：Pancake Sortingの実験設計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13979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08A88"/>
                </a:solidFill>
                <a:latin typeface="Meiryo UI"/>
              </a:rPr>
              <a:t>Pancakeの利点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834603"/>
            <a:ext cx="10222992" cy="1261872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0772" y="2193520"/>
            <a:ext cx="9679894" cy="300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 dirty="0" err="1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Nと厳密なmin_moves</a:t>
            </a:r>
            <a:r>
              <a:rPr lang="en-US" sz="200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パズルを解く上での最小手数</a:t>
            </a:r>
            <a:r>
              <a:rPr lang="en-US" sz="200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000" b="1" dirty="0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による難易度の</a:t>
            </a:r>
            <a:r>
              <a:rPr sz="2000" b="1" dirty="0" err="1">
                <a:solidFill>
                  <a:srgbClr val="13223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層化</a:t>
            </a:r>
            <a:endParaRPr sz="2000" b="1" dirty="0">
              <a:solidFill>
                <a:srgbClr val="13223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3675887"/>
            <a:ext cx="141732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dirty="0">
                <a:latin typeface="Inter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666744"/>
            <a:ext cx="342899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DeepSeek-R1-Distill-Qwen-14B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069079"/>
            <a:ext cx="489204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242816"/>
            <a:ext cx="141732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latin typeface="Inter"/>
              </a:rPr>
              <a:t>TEMP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233672"/>
            <a:ext cx="342899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T = 0.6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4636007"/>
            <a:ext cx="489204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36208" y="3675887"/>
            <a:ext cx="141732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latin typeface="Inter"/>
              </a:rPr>
              <a:t>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666744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N = 3–5 / min_moves = 3–5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36208" y="4069079"/>
            <a:ext cx="493776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36208" y="4242816"/>
            <a:ext cx="141732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latin typeface="Inter"/>
              </a:rPr>
              <a:t>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42336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2238"/>
                </a:solidFill>
                <a:latin typeface="Meiryo UI"/>
              </a:rPr>
              <a:t>search goalとfinal answerの分離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36208" y="4636007"/>
            <a:ext cx="4937760" cy="0"/>
          </a:xfrm>
          <a:prstGeom prst="line">
            <a:avLst/>
          </a:prstGeom>
          <a:ln w="762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14">
            <a:extLst>
              <a:ext uri="{FF2B5EF4-FFF2-40B4-BE49-F238E27FC236}">
                <a16:creationId xmlns:a16="http://schemas.microsoft.com/office/drawing/2014/main" id="{E2F77948-0115-57E9-0B86-8E0D05A934E9}"/>
              </a:ext>
            </a:extLst>
          </p:cNvPr>
          <p:cNvSpPr txBox="1"/>
          <p:nvPr/>
        </p:nvSpPr>
        <p:spPr>
          <a:xfrm>
            <a:off x="3033521" y="2733633"/>
            <a:ext cx="5454396" cy="180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N=3,4,5,…</a:t>
            </a:r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に対し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Min_moves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最小手数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が複数存在する　⇒　探索範囲が異なる</a:t>
            </a:r>
            <a:endParaRPr sz="120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4. 現状の共有：Nとmin_movesによる難易度分解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07008"/>
            <a:ext cx="6675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637083"/>
                </a:solidFill>
                <a:latin typeface="Inter"/>
              </a:rPr>
              <a:t>T=0.6 / DeepSeek-R1-Distill-Qwen-14B / 600 trials（各cell n=100）</a:t>
            </a:r>
          </a:p>
        </p:txBody>
      </p:sp>
      <p:pic>
        <p:nvPicPr>
          <p:cNvPr id="9" name="Picture 8" descr="pancake_accuracy_600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5760720" cy="4361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84848" y="1554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2D5BFF"/>
                </a:solidFill>
                <a:latin typeface="Inter"/>
              </a:rPr>
              <a:t>min_moves=3固定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9385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50" b="1">
                <a:solidFill>
                  <a:srgbClr val="132238"/>
                </a:solidFill>
                <a:latin typeface="Inter"/>
              </a:rPr>
              <a:t>N=3 → 4 → 5：100% → 86% → 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359152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37083"/>
                </a:solidFill>
                <a:latin typeface="Meiryo UI"/>
              </a:rPr>
              <a:t>同一計画長でもN増加に伴うaccuracy低下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84848" y="2798064"/>
            <a:ext cx="4297680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4848" y="30906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008A88"/>
                </a:solidFill>
                <a:latin typeface="Inter"/>
              </a:rPr>
              <a:t>N=5固定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474720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50" b="1">
                <a:solidFill>
                  <a:srgbClr val="132238"/>
                </a:solidFill>
                <a:latin typeface="Inter"/>
              </a:rPr>
              <a:t>mm=3 → 4 → 5：76% → 38% →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895344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37083"/>
                </a:solidFill>
                <a:latin typeface="Meiryo UI"/>
              </a:rPr>
              <a:t>mm=4での半減とmm=4–5間の横ばい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4848" y="4334256"/>
            <a:ext cx="4297680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84848" y="4645152"/>
            <a:ext cx="4297680" cy="96012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4864608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2D5BFF"/>
                </a:solidFill>
                <a:latin typeface="Meiryo UI"/>
              </a:rPr>
              <a:t>層化によるN効果と計画長効果の分離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239512"/>
            <a:ext cx="37856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32238"/>
                </a:solidFill>
                <a:latin typeface="Meiryo UI"/>
              </a:rPr>
              <a:t>N=4ではmm4 &gt; mm3：単純な単調則ではない結果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Source: Google Drive full_hidden_distribution_v1 / labels_v1.json, retrieved 2026-08-25; aggregate: data/pancake_accuracy_600.csv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5. 展望：挙動のモデリングから制御へ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2D5BFF"/>
                </a:solidFill>
                <a:latin typeface="Meiryo UI"/>
              </a:rPr>
              <a:t>先行研究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399032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32238"/>
                </a:solidFill>
                <a:latin typeface="Meiryo UI"/>
              </a:rPr>
              <a:t>崩壊点・failure onset・確率過程という三つの記述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1911095"/>
            <a:ext cx="10149840" cy="0"/>
          </a:xfrm>
          <a:prstGeom prst="line">
            <a:avLst/>
          </a:prstGeom>
          <a:ln w="889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35915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008A88"/>
                </a:solidFill>
                <a:latin typeface="Meiryo UI"/>
              </a:rPr>
              <a:t>Hanoi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40864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32238"/>
                </a:solidFill>
                <a:latin typeface="Meiryo UI"/>
              </a:rPr>
              <a:t>Apple報告の推論崩壊をローカルopen modelで再現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852928"/>
            <a:ext cx="10149840" cy="0"/>
          </a:xfrm>
          <a:prstGeom prst="line">
            <a:avLst/>
          </a:prstGeom>
          <a:ln w="889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30098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E7822B"/>
                </a:solidFill>
                <a:latin typeface="Meiryo UI"/>
              </a:rPr>
              <a:t>Pancake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82696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32238"/>
                </a:solidFill>
                <a:latin typeface="Meiryo UI"/>
              </a:rPr>
              <a:t>Nとmin_movesの分離による挙動モデリングの土台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3794760"/>
            <a:ext cx="10149840" cy="0"/>
          </a:xfrm>
          <a:prstGeom prst="line">
            <a:avLst/>
          </a:prstGeom>
          <a:ln w="889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38912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次段階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4261104"/>
            <a:ext cx="8659368" cy="1152144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0048" y="4507992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D5BFF"/>
                </a:solidFill>
                <a:latin typeface="Meiryo UI"/>
              </a:rPr>
              <a:t>複数trajectoryからのoutcome別drift / diffusion推定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95604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32238"/>
                </a:solidFill>
                <a:latin typeface="Meiryo UI"/>
              </a:rPr>
              <a:t>崩壊の早期予測　→　将来的なinference-time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008A88"/>
                </a:solidFill>
                <a:latin typeface="Meiryo UI"/>
              </a:rPr>
              <a:t>本発表の到達点：制御ではなく、推論崩壊の動力学的診断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2831</Words>
  <Application>Microsoft Office PowerPoint</Application>
  <PresentationFormat>ワイド画面</PresentationFormat>
  <Paragraphs>204</Paragraphs>
  <Slides>14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Inter</vt:lpstr>
      <vt:lpstr>Meiryo UI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大規模言語モデルの物理モデリング</dc:title>
  <dc:subject>2026-08-25 サマーインターン社内発表</dc:subject>
  <dc:creator>LLM Reasoning Dynamics project</dc:creator>
  <cp:keywords/>
  <dc:description>generated using python-pptx</dc:description>
  <cp:lastModifiedBy>颯汰郎 伊藤</cp:lastModifiedBy>
  <cp:revision>3</cp:revision>
  <dcterms:created xsi:type="dcterms:W3CDTF">2013-01-27T09:14:16Z</dcterms:created>
  <dcterms:modified xsi:type="dcterms:W3CDTF">2026-08-24T22:13:56Z</dcterms:modified>
  <cp:category/>
</cp:coreProperties>
</file>